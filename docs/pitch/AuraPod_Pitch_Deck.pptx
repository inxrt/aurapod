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SPEECH HOOK (0:00-0:30):</a:t>
            </a:r>
          </a:p>
          <a:p>
            <a:r>
              <a:t>Judges, imagine this: It is 11:58 PM on a Sunday night. You've worked all weekend on your final project. You sit at your desk, click 'Submit Assignment'... and your phone flickers with 1 bar of dead signal. At midnight, the portal locks out. Grade: Zero. Today we present AuraPod, the personal tool that ends this nightmare.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 (0:30-1:00):</a:t>
            </a:r>
          </a:p>
          <a:p>
            <a:r>
              <a:t>Reinforced concrete dorms act like RF bunkers. 4G/5G loses 30 dB. Students are forced to sit on cold balconies at 2 AM or face failed quiz submissions. Industrial boosters cost $500 and are illegal without carrier licenses. Students need a personal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 (1:00-1:15):</a:t>
            </a:r>
          </a:p>
          <a:p>
            <a:r>
              <a:t>Look at this matrix. Dongles have omnidirectional antennas—if your phone gets 1 bar, a dongle gets 1 bar! AuraPod is the ONLY solution under $30 that combines directional parabolic gain with offline-first software resilience.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PITCH (1:15-1:45):</a:t>
            </a:r>
          </a:p>
          <a:p>
            <a:r>
              <a:t>AuraPod attacks the problem from both ends. Hardware gets the signal from 1 bar to 3-4 bars using passive parabolic focus and active LNA amplification. Software guarantees that even if the signal flickers, not a single byte of homework or online exam data is ever lost.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HARDWARE DEFENSE:</a:t>
            </a:r>
          </a:p>
          <a:p>
            <a:r>
              <a:t>Point out the origami form factor: students don't want bulky hardware. AuraPod folds flat into their backpack. And the passive reflector means ZERO regulatory hurdles—it's not jamming towers.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SOFTWARE HIGHLIGHT:</a:t>
            </a:r>
          </a:p>
          <a:p>
            <a:r>
              <a:t>Emphasize the cryptographic timestamp proof! Even if the network takes 5 minutes to flicker back, the student has verifiable cryptographic proof for their professor that they hit submit before midnight.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INNOVATION MOAT:</a:t>
            </a:r>
          </a:p>
          <a:p>
            <a:r>
              <a:t>Judges love network effects. DormMesh creates a local P2P swarm. The more students in a hostel that own an AuraPod, the faster their local study network becomes!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MARKET CONTEXT:</a:t>
            </a:r>
          </a:p>
          <a:p>
            <a:r>
              <a:t>In India alone, there are 38 million college students; over 12 million live in hostels. Every single one of them has faced a failed submission or dead zone.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BUSINESS CLOSING:</a:t>
            </a:r>
          </a:p>
          <a:p>
            <a:r>
              <a:t>Sub-$10 BOM enables a sub-$30 retail price. At $29, it's an impulse buy for parents and students before the semester starts. Plus, university B2B institutional bulk sales provide massive B2B scaling.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 PUNCHLINE:</a:t>
            </a:r>
          </a:p>
          <a:p>
            <a:r>
              <a:t>'No student should ever fail a course simply because their desk was placed next to a concrete wall. With AuraPod, we turn 1 bar of frustration into academic flow. Thank you, and we are ready for your questions!'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66960" cy="502920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0" y="1371600"/>
            <a:ext cx="2011680" cy="384048"/>
          </a:xfrm>
          <a:prstGeom prst="roundRect">
            <a:avLst/>
          </a:prstGeom>
          <a:solidFill>
            <a:srgbClr val="102337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0F2FE"/>
                </a:solidFill>
                <a:latin typeface="Arial"/>
              </a:rPr>
              <a:t>HARDWARE + SOFTWARE EDTECH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920240"/>
            <a:ext cx="8869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Arial"/>
              </a:defRPr>
            </a:pPr>
            <a:r>
              <a:t>AuraPod</a:t>
            </a:r>
          </a:p>
          <a:p>
            <a:pPr algn="ctr">
              <a:spcBef>
                <a:spcPts val="800"/>
              </a:spcBef>
              <a:defRPr sz="2200" b="1">
                <a:solidFill>
                  <a:srgbClr val="00F2FE"/>
                </a:solidFill>
                <a:latin typeface="Arial"/>
              </a:defRPr>
            </a:pPr>
            <a:r>
              <a:t>Personal Portable Signal Reflector &amp; Resilient Campus Caching Hub</a:t>
            </a:r>
          </a:p>
          <a:p>
            <a:pPr algn="ctr">
              <a:spcBef>
                <a:spcPts val="1200"/>
              </a:spcBef>
              <a:defRPr i="1" sz="1600">
                <a:solidFill>
                  <a:srgbClr val="94A3B8"/>
                </a:solidFill>
                <a:latin typeface="Georgia"/>
              </a:defRPr>
            </a:pPr>
            <a:r>
              <a:t>"Turn 1-Bar Frustration into Academic Flow."</a:t>
            </a:r>
          </a:p>
          <a:p>
            <a:pPr algn="ctr">
              <a:spcBef>
                <a:spcPts val="16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A pocket-sized passive RF concentrator + intelligent local queueing engine that rescues students from campus dead zones.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2011680" cy="384048"/>
          </a:xfrm>
          <a:prstGeom prst="roundRect">
            <a:avLst/>
          </a:prstGeom>
          <a:solidFill>
            <a:srgbClr val="102337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0F2FE"/>
                </a:solidFill>
                <a:latin typeface="Arial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Campus Dead Zone Dilemma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Millions of students in concrete hostels and basement libraries face academic failure due to 1-bar connectivity.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411480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  <a:latin typeface="Arial"/>
              </a:defRPr>
            </a:pPr>
            <a:r>
              <a:t>01. FARADAY CAGE DORMS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• Reinforced concrete, brick walls, and steel rebar cause severe building attenuation (-20 dB to -35 dB signal loss).</a:t>
            </a:r>
            <a:br/>
            <a:br/>
            <a:r>
              <a:t>• High-frequency 4G &amp; 5G bands (especially 3.5 GHz n78) fail to penetrate deep indoor corner rooms.</a:t>
            </a:r>
            <a:br/>
            <a:br/>
            <a:r>
              <a:t>• Hallway Wi-Fi routers cannot overcome heavy fire doors.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11680"/>
            <a:ext cx="3383280" cy="411480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24028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Arial"/>
              </a:defRPr>
            </a:pPr>
            <a:r>
              <a:t>02. THE 11:59 PM HORROR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• Standard browsers offer zero offline resilience during network flickers.</a:t>
            </a:r>
            <a:br/>
            <a:br/>
            <a:r>
              <a:t>• When network drops for even 2 seconds, LMS portals (Canvas, Moodle, Blackboard) crash with ERR_CONNECTION_RESET.</a:t>
            </a:r>
            <a:br/>
            <a:br/>
            <a:r>
              <a:t>• Form data resets, quiz answers are wiped, and late penalties destroy GPA.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011680"/>
            <a:ext cx="3383280" cy="411480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263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24028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03. UNAFFORDABLE FIXES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• Industrial cell boosters cost $300-$800+, requiring rooftop drilling and strict carrier licensing.</a:t>
            </a:r>
            <a:br/>
            <a:br/>
            <a:r>
              <a:t>• Mobile hotspots fail: if your phone has 1 bar, hotspotting gives 0 usable throughput.</a:t>
            </a:r>
            <a:br/>
            <a:br/>
            <a:r>
              <a:t>• DIY tin foil hacks are fragile, non-calibrated, and embarrassing.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2011680" cy="384048"/>
          </a:xfrm>
          <a:prstGeom prst="roundRect">
            <a:avLst/>
          </a:prstGeom>
          <a:solidFill>
            <a:srgbClr val="102337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0F2FE"/>
                </a:solidFill>
                <a:latin typeface="Arial"/>
              </a:rPr>
              <a:t>MARKET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Why Existing Solutions Fail Students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A direct breakdown of current market alternatives versus the student reality.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725912" cy="420624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263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2FE"/>
                </a:solidFill>
                <a:latin typeface="Courier New"/>
              </a:defRPr>
            </a:pPr>
            <a:r>
              <a:t>METRIC                   INDUSTRIAL BOOSTERS          PORTABLE MIFI              AURAPOD (OUR SOLUTION)      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Courier New"/>
              </a:defRPr>
            </a:pPr>
            <a:r>
              <a:t>Retail Price             $400 - $800+                 $50 - $120                 $29 (₹1,999)                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Courier New"/>
              </a:defRPr>
            </a:pPr>
            <a:r>
              <a:t>Installation             Rooftop drill &amp; cabling      Plug and pray              Instant desktop foldout     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Courier New"/>
              </a:defRPr>
            </a:pPr>
            <a:r>
              <a:t>Legal / Regulatory       Carrier license required     Carrier locked SIM         100% Unlicensed &amp; Safe      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Courier New"/>
              </a:defRPr>
            </a:pPr>
            <a:r>
              <a:t>Weak Signal Gain         Active high-power            Omni-directional (0 dBi)   +10 dBi Parabolic Focus     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Courier New"/>
              </a:defRPr>
            </a:pPr>
            <a:r>
              <a:t>Offline Resilience       None (Network-only)          None (Network-only)        AuraQueue + Campus Vault    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Courier New"/>
              </a:defRPr>
            </a:pPr>
            <a:r>
              <a:t>Portability              Permanent fixed install      Pocket dongle              180g Origami Fold-Flat   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2011680" cy="384048"/>
          </a:xfrm>
          <a:prstGeom prst="roundRect">
            <a:avLst/>
          </a:prstGeom>
          <a:solidFill>
            <a:srgbClr val="102337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0F2FE"/>
                </a:solidFill>
                <a:latin typeface="Arial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Introducing AuraPod: The Dual-Innovation Stack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Conquering campus dead zones with physical radio wave physics and intelligent client software.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212080" cy="411480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F2FE"/>
                </a:solidFill>
                <a:latin typeface="Arial"/>
              </a:defRPr>
            </a:pPr>
            <a:r>
              <a:t>LAYER 1: HARDWARE SIGNAL LENS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• Parabolic Foldable Micro-Grid:</a:t>
            </a:r>
            <a:br/>
            <a:r>
              <a:t>  Directional metallic mesh captures scattered 4G/5G/Wi-Fi waves across 120° and focuses them (+10 dBi gain).</a:t>
            </a:r>
            <a:br/>
            <a:br/>
            <a:r>
              <a:t>• Active Ultra-Low-Noise Amplifier (LNA):</a:t>
            </a:r>
            <a:br/>
            <a:r>
              <a:t>  Suppresses background noise with SAW bandpass filters to stabilize faint micro-volt signals.</a:t>
            </a:r>
            <a:br/>
            <a:br/>
            <a:r>
              <a:t>• 5V USB-C Powered:</a:t>
            </a:r>
            <a:br/>
            <a:r>
              <a:t>  Runs on &lt;2.5W from laptop or power bank. Zero wall outlet required.</a:t>
            </a:r>
            <a:br/>
            <a:br/>
            <a:r>
              <a:t>• Origami Fold-Flat Chassis:</a:t>
            </a:r>
            <a:br/>
            <a:r>
              <a:t>  180 grams. Slips into any laptop sleeve or backpack pocket.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212080" cy="411480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28600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Arial"/>
              </a:defRPr>
            </a:pPr>
            <a:r>
              <a:t>LAYER 2: AURAOS SOFTWARE ENGINE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• AuraScope AR Signal Alignment:</a:t>
            </a:r>
            <a:br/>
            <a:r>
              <a:t>  Smartphone gyroscope &amp; cellular telemetry (RSRP/SINR) visually guide dish pointing to nearest cell tower.</a:t>
            </a:r>
            <a:br/>
            <a:br/>
            <a:r>
              <a:t>• AuraQueue Resilient Submission Engine:</a:t>
            </a:r>
            <a:br/>
            <a:r>
              <a:t>  Background daemon intercepts LMS uploads; holds data locally on disconnect, auto-flushes on reconnect.</a:t>
            </a:r>
            <a:br/>
            <a:br/>
            <a:r>
              <a:t>• Offline Campus Vault:</a:t>
            </a:r>
            <a:br/>
            <a:r>
              <a:t>  Nocturnal 3 AM automated pre-caching of course syllabi, slides, and H.265 compressed video lectures.</a:t>
            </a:r>
            <a:br/>
            <a:br/>
            <a:r>
              <a:t>• Campus DormMesh:</a:t>
            </a:r>
            <a:br/>
            <a:r>
              <a:t>  Local P2P Wi-Fi Direct sharing between AuraPods at 50 Mbps with 0 cellular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2011680" cy="384048"/>
          </a:xfrm>
          <a:prstGeom prst="roundRect">
            <a:avLst/>
          </a:prstGeom>
          <a:solidFill>
            <a:srgbClr val="102337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0F2FE"/>
                </a:solidFill>
                <a:latin typeface="Arial"/>
              </a:rPr>
              <a:t>HARDWARE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The Physical Architecture: Signal Lens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Precision RF mechanical engineering tailored for student portability and zero regulatory friction.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411480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F2FE"/>
                </a:solidFill>
                <a:latin typeface="Arial"/>
              </a:defRPr>
            </a:pPr>
            <a:r>
              <a:t>01. PARABOLIC METALLIC GRID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• Micro-stamped metallic grid reflector</a:t>
            </a:r>
            <a:br/>
            <a:r>
              <a:t>• Tuned for 700 MHz - 5.8 GHz (4G, 5G Sub-6, Wi-Fi 2.4/5G)</a:t>
            </a:r>
            <a:br/>
            <a:r>
              <a:t>• Delivers +8 dBi to +12 dBi directional concentration</a:t>
            </a:r>
            <a:br/>
            <a:r>
              <a:t>• Acts like an optical lens for invisible radio waves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11680"/>
            <a:ext cx="3383280" cy="411480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19456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02. ACTIVE ULTRA-LNA MODULE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• Sub-1.2 dB Noise Figure (NF)</a:t>
            </a:r>
            <a:br/>
            <a:r>
              <a:t>• Dual SAW (Surface Acoustic Wave) bandpass filters eliminate interference</a:t>
            </a:r>
            <a:br/>
            <a:r>
              <a:t>• Local cradle coupling avoids high-power re-radiation (100% legal &amp; compliant)</a:t>
            </a:r>
            <a:br/>
            <a:r>
              <a:t>• Stabilizes packet jitter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011680"/>
            <a:ext cx="3383280" cy="411480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19456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Arial"/>
              </a:defRPr>
            </a:pPr>
            <a:r>
              <a:t>03. ORIGAMI TRAVEL CHASSIS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• Foldable dual-hinge mechanical stand</a:t>
            </a:r>
            <a:br/>
            <a:r>
              <a:t>• Folds completely flat (&lt;12mm thickness)</a:t>
            </a:r>
            <a:br/>
            <a:r>
              <a:t>• Weighs only 180 grams</a:t>
            </a:r>
            <a:br/>
            <a:r>
              <a:t>• Standard 5V USB-C bus (&lt;500mA consumption)</a:t>
            </a:r>
            <a:br/>
            <a:r>
              <a:t>• Integrated silicone desktop grip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2011680" cy="384048"/>
          </a:xfrm>
          <a:prstGeom prst="roundRect">
            <a:avLst/>
          </a:prstGeom>
          <a:solidFill>
            <a:srgbClr val="102337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0F2FE"/>
                </a:solidFill>
                <a:latin typeface="Arial"/>
              </a:rPr>
              <a:t>SOFTWARE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AuraOS: Intelligence Where Hardware Stops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Client-side software that turns intermittent, flickering connections into seamless submissions.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212080" cy="411480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F2FE"/>
                </a:solidFill>
                <a:latin typeface="Arial"/>
              </a:defRPr>
            </a:pPr>
            <a:r>
              <a:t>AURASCOPE: AR RADAR COMPASS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1. Cell Tower Telemetry:</a:t>
            </a:r>
            <a:br/>
            <a:r>
              <a:t>   Queries local base station CID/LAC + device RSRP/SINR signal strength.</a:t>
            </a:r>
            <a:br/>
            <a:br/>
            <a:r>
              <a:t>2. AR Camera Overlay:</a:t>
            </a:r>
            <a:br/>
            <a:r>
              <a:t>   Student points camera around room; an AR crosshair marks the exact angle of the nearest cell tower or campus AP.</a:t>
            </a:r>
            <a:br/>
            <a:br/>
            <a:r>
              <a:t>3. Audio Sonar Ping:</a:t>
            </a:r>
            <a:br/>
            <a:r>
              <a:t>   Chirps with rising frequency as dish achieves optimal alignment. Dish locked in &lt;10 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212080" cy="411480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  <a:latin typeface="Arial"/>
              </a:defRPr>
            </a:pPr>
            <a:r>
              <a:t>AURAQUEUE: RESILIENT DATA ENGINE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1. Zero-Crash Interception:</a:t>
            </a:r>
            <a:br/>
            <a:r>
              <a:t>   Browser extension hooks into fetch/XHR uploads for Canvas, Moodle, and Blackboard.</a:t>
            </a:r>
            <a:br/>
            <a:br/>
            <a:r>
              <a:t>2. Resumable Chunking (Tus Protocol):</a:t>
            </a:r>
            <a:br/>
            <a:r>
              <a:t>   If connection drops, request freezes in local IndexedDB without timing out.</a:t>
            </a:r>
            <a:br/>
            <a:br/>
            <a:r>
              <a:t>3. Cryptographic Timestamp Proof:</a:t>
            </a:r>
            <a:br/>
            <a:r>
              <a:t>   Generates an SHA-256 client proof receipt verifying student submitted at 11:58 PM even if network syncs at 12:02 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2011680" cy="384048"/>
          </a:xfrm>
          <a:prstGeom prst="roundRect">
            <a:avLst/>
          </a:prstGeom>
          <a:solidFill>
            <a:srgbClr val="102337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0F2FE"/>
                </a:solidFill>
                <a:latin typeface="Arial"/>
              </a:rPr>
              <a:t>BANDWIDTH RESILIENCE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Offline Campus Vault &amp; DormMesh P2P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Eliminating reliance on real-time internet through predictive nocturnal pre-caching and local dorm sharing.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212080" cy="411480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9E0B"/>
                </a:solidFill>
                <a:latin typeface="Arial"/>
              </a:defRPr>
            </a:pPr>
            <a:r>
              <a:t>OFFLINE CAMPUS VAULT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• Opportunistic Nightly Sync (3 AM):</a:t>
            </a:r>
            <a:br/>
            <a:r>
              <a:t>  Takes advantage of uncongested network hours while the student sleeps.</a:t>
            </a:r>
            <a:br/>
            <a:br/>
            <a:r>
              <a:t>• Intelligent Course Pre-Caching:</a:t>
            </a:r>
            <a:br/>
            <a:r>
              <a:t>  Syncs lecture slides, syllabus PDFs, problem sets, and discussion boards.</a:t>
            </a:r>
            <a:br/>
            <a:br/>
            <a:r>
              <a:t>• AI Video Transcoding:</a:t>
            </a:r>
            <a:br/>
            <a:r>
              <a:t>  Compresses 1080p lecture videos into lightweight H.265/AV1 streams, saving 75% storage while retaining slide readability.</a:t>
            </a:r>
            <a:br/>
            <a:br/>
            <a:r>
              <a:t>• Instant Offline Study:</a:t>
            </a:r>
            <a:br/>
            <a:r>
              <a:t>  Zero loading spinners during exam prep.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212080" cy="411480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F2FE"/>
                </a:solidFill>
                <a:latin typeface="Arial"/>
              </a:defRPr>
            </a:pPr>
            <a:r>
              <a:t>DORMMESH P2P NETWORK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• Hyper-Local Wi-Fi Direct Swarm:</a:t>
            </a:r>
            <a:br/>
            <a:r>
              <a:t>  AuraPod units on the same floor establish an encrypted local mesh network.</a:t>
            </a:r>
            <a:br/>
            <a:br/>
            <a:r>
              <a:t>• Zero Cellular Data Consumption:</a:t>
            </a:r>
            <a:br/>
            <a:r>
              <a:t>  If Student A downloads a 2 GB lecture video, Student B and C stream it directly over local Wi-Fi at 50 Mbps.</a:t>
            </a:r>
            <a:br/>
            <a:br/>
            <a:r>
              <a:t>• Crowd-Sourced Campus Bandwidth:</a:t>
            </a:r>
            <a:br/>
            <a:r>
              <a:t>  Transforms isolated corner rooms into an interconnected collaborative study hub.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2011680" cy="384048"/>
          </a:xfrm>
          <a:prstGeom prst="roundRect">
            <a:avLst/>
          </a:prstGeom>
          <a:solidFill>
            <a:srgbClr val="102337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0F2FE"/>
                </a:solidFill>
                <a:latin typeface="Arial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Target Personas &amp; Market Scale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Serving 250M+ college students globally struggling with campus infrastructure dead zones.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725912" cy="100584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F2FE"/>
                </a:solidFill>
                <a:latin typeface="Arial"/>
              </a:defRPr>
            </a:pPr>
            <a:r>
              <a:t>TAM: $4.2B Global Campus Hardware  |  SAM: $850M Higher Ed Tech  |  SOM: $42M Student Hostel Launch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3383280" cy="310896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263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3017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THE HOSTEL RESIDENT</a:t>
            </a:r>
          </a:p>
          <a:p>
            <a:pPr>
              <a:defRPr sz="1100" i="1">
                <a:solidFill>
                  <a:srgbClr val="94A3B8"/>
                </a:solidFill>
              </a:defRPr>
            </a:pPr>
            <a:r>
              <a:t>Aryan, 2nd Year B.Tech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Isolated corner room in old campus hostel.</a:t>
            </a:r>
            <a:br/>
            <a:r>
              <a:t>• Constant 1-bar signal.</a:t>
            </a:r>
            <a:br/>
            <a:r>
              <a:t>• Misses midnight project deadlines.</a:t>
            </a:r>
            <a:br/>
            <a:r>
              <a:t>• Needs cheap, desk-friendly booster.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108960"/>
            <a:ext cx="3383280" cy="310896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263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3200400"/>
            <a:ext cx="3017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THE BASEMENT RESEARCHER</a:t>
            </a:r>
          </a:p>
          <a:p>
            <a:pPr>
              <a:defRPr sz="1100" i="1">
                <a:solidFill>
                  <a:srgbClr val="94A3B8"/>
                </a:solidFill>
              </a:defRPr>
            </a:pPr>
            <a:r>
              <a:t>Elena, Master's Candidate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Spends 8 hours/day in library basement cubicles.</a:t>
            </a:r>
            <a:br/>
            <a:r>
              <a:t>• Wi-Fi blocked by steel firewalls.</a:t>
            </a:r>
            <a:br/>
            <a:r>
              <a:t>• Needs zero-installation laptop tether.</a:t>
            </a:r>
            <a:br/>
            <a:r>
              <a:t>• Uses offline vault for papers.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108960"/>
            <a:ext cx="3383280" cy="310896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263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3200400"/>
            <a:ext cx="3017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THE RURAL REMOTE LEARNER</a:t>
            </a:r>
          </a:p>
          <a:p>
            <a:pPr>
              <a:defRPr sz="1100" i="1">
                <a:solidFill>
                  <a:srgbClr val="94A3B8"/>
                </a:solidFill>
              </a:defRPr>
            </a:pPr>
            <a:r>
              <a:t>Dev, Competitive Exam Prep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Studies from semi-rural hometown with patchy cell towers.</a:t>
            </a:r>
            <a:br/>
            <a:r>
              <a:t>• Mobile data drops mid-lecture.</a:t>
            </a:r>
            <a:br/>
            <a:r>
              <a:t>• Relies on AuraScope AR to lock distant tower.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2011680" cy="384048"/>
          </a:xfrm>
          <a:prstGeom prst="roundRect">
            <a:avLst/>
          </a:prstGeom>
          <a:solidFill>
            <a:srgbClr val="102337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0F2FE"/>
                </a:solidFill>
                <a:latin typeface="Arial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Unit Economics &amp; Commercial Viability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Engineered for high gross margins ($9.50 BOM) at an impulsive student price point ($29).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212080" cy="411480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Arial"/>
              </a:defRPr>
            </a:pPr>
            <a:r>
              <a:t>BILL OF MATERIALS (5,000 UNIT SCALE)</a:t>
            </a:r>
          </a:p>
          <a:p>
            <a:br/>
            <a:pPr>
              <a:defRPr sz="1200">
                <a:solidFill>
                  <a:srgbClr val="FFFFFF"/>
                </a:solidFill>
                <a:latin typeface="Courier New"/>
              </a:defRPr>
            </a:pPr>
            <a:r>
              <a:t>• Foldable Metallic Micro-Mesh:        $2.80</a:t>
            </a:r>
            <a:br/>
            <a:r>
              <a:t>• Sub-6GHz Wideband Patch Antenna:     $1.50</a:t>
            </a:r>
            <a:br/>
            <a:r>
              <a:t>• Low-Noise Amplifier + SAW Filter:    $2.20</a:t>
            </a:r>
            <a:br/>
            <a:r>
              <a:t>• USB-C Power Bus &amp; Micro-PCB:         $1.20</a:t>
            </a:r>
            <a:br/>
            <a:r>
              <a:t>• Origami ABS Chassis &amp; Hinges:        $0.80</a:t>
            </a:r>
            <a:br/>
            <a:r>
              <a:t>• Packaging, Cable &amp; Travel Sleeve:    $1.00</a:t>
            </a:r>
            <a:br/>
            <a:r>
              <a:t>--------------------------------------------</a:t>
            </a:r>
            <a:br/>
            <a:r>
              <a:t>TOTAL ESTIMATED BOM:                   $9.50 (~₹780)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212080" cy="411480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2FE"/>
                </a:solidFill>
                <a:latin typeface="Arial"/>
              </a:defRPr>
            </a:pPr>
            <a:r>
              <a:t>REVENUE STREAMS &amp; MARGINS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1. Direct-to-Student Hardware:</a:t>
            </a:r>
            <a:br/>
            <a:r>
              <a:t>   Retail Price: $29 (₹1,999)</a:t>
            </a:r>
            <a:br/>
            <a:r>
              <a:t>   Gross Margin: ~67% ($19.50 per unit)</a:t>
            </a:r>
            <a:br/>
            <a:br/>
            <a:r>
              <a:t>2. AuraPod Pro Cloud Subscription (Optional):</a:t>
            </a:r>
            <a:br/>
            <a:r>
              <a:t>   $1.99/mo (₹99/mo) for unlimited automated course pre-caching, cloud vault, and priority LMS queueing.</a:t>
            </a:r>
            <a:br/>
            <a:br/>
            <a:r>
              <a:t>3. B2B University Campus Contracts:</a:t>
            </a:r>
            <a:br/>
            <a:r>
              <a:t>   Universities provision AuraPods to dorm residents at 1/10th the cost of ripping open concrete walls for rewiring.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66960" cy="5029200"/>
          </a:xfrm>
          <a:prstGeom prst="roundRect">
            <a:avLst/>
          </a:prstGeom>
          <a:solidFill>
            <a:srgbClr val="1319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120640" y="1371600"/>
            <a:ext cx="2011680" cy="384048"/>
          </a:xfrm>
          <a:prstGeom prst="roundRect">
            <a:avLst/>
          </a:prstGeom>
          <a:solidFill>
            <a:srgbClr val="10233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0B981"/>
                </a:solidFill>
                <a:latin typeface="Arial"/>
              </a:rPr>
              <a:t>THE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920240"/>
            <a:ext cx="8869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"No student should fail an exam</a:t>
            </a:r>
            <a:br/>
            <a:r>
              <a:t>because of a concrete wall."</a:t>
            </a:r>
          </a:p>
          <a:p>
            <a:pPr algn="ctr">
              <a:spcBef>
                <a:spcPts val="1600"/>
              </a:spcBef>
              <a:defRPr sz="1800" b="1">
                <a:solidFill>
                  <a:srgbClr val="00F2FE"/>
                </a:solidFill>
                <a:latin typeface="Arial"/>
              </a:defRPr>
            </a:pPr>
            <a:r>
              <a:t>AuraPod is personal, portable, and ready to transform campus connectivity.</a:t>
            </a:r>
          </a:p>
          <a:p>
            <a:pPr algn="ctr">
              <a:spcBef>
                <a:spcPts val="20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Next Steps: Campus hostel beta testing | Provisional patent for folded metamaterial mesh</a:t>
            </a:r>
          </a:p>
          <a:p>
            <a:pPr algn="ctr">
              <a:spcBef>
                <a:spcPts val="2400"/>
              </a:spcBef>
              <a:defRPr sz="2200" b="1">
                <a:solidFill>
                  <a:srgbClr val="10B981"/>
                </a:solidFill>
                <a:latin typeface="Arial"/>
              </a:defRPr>
            </a:pPr>
            <a:r>
              <a:t>THANK YOU  • 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